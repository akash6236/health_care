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italic ns1:id="rIdFont15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676b1a37-340a-429a-8513-6db96a0f6928.fntdata" /><ns0:Relationship Id="rIdFont16" Type="http://schemas.openxmlformats.org/officeDocument/2006/relationships/font" Target="fonts/ecc7b86c-6134-43d8-b554-706e0d01cdd6.fntdata" /><ns0:Relationship Id="rIdFont17" Type="http://schemas.openxmlformats.org/officeDocument/2006/relationships/font" Target="fonts/715acc9d-c9f7-4f29-a105-f736e4aed45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745533"/>
            <a:ext cx="10972800" cy="157906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059858"/>
            <a:ext cx="3505200" cy="1264741"/>
          </a:xfrm>
          <a:prstGeom prst="roundRect">
            <a:avLst>
              <a:gd name="adj" fmla="val 753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745533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5059858"/>
            <a:ext cx="3505200" cy="1264741"/>
          </a:xfrm>
          <a:prstGeom prst="roundRect">
            <a:avLst>
              <a:gd name="adj" fmla="val 753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5059858"/>
            <a:ext cx="3505200" cy="1264741"/>
          </a:xfrm>
          <a:prstGeom prst="roundRect">
            <a:avLst>
              <a:gd name="adj" fmla="val 753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059858"/>
            <a:ext cx="38100" cy="12647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5059858"/>
            <a:ext cx="38100" cy="1264741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77200" y="5059858"/>
            <a:ext cx="38100" cy="126474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533400"/>
            <a:ext cx="2095500" cy="133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6425" y="542925"/>
            <a:ext cx="2076450" cy="1314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928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MCA ACADEMIC PROJECT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7900987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Hospital Readmission &amp; Patient Flow Risk Analysis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939230"/>
            <a:ext cx="9286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A Python-Based Healthcare Analytics Web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250358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478958"/>
            <a:ext cx="38576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Akash Gaonkar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755183"/>
            <a:ext cx="3857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USN: MCA 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250358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PROGRAM &amp; SEMESTER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78958"/>
            <a:ext cx="38576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Master of Computer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755183"/>
            <a:ext cx="3857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3rd Semester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5250358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5478958"/>
            <a:ext cx="3181350" cy="445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Nitte Meenakshi Institute of 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5962650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(NMIT),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55576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03376"/>
            <a:ext cx="10972800" cy="1419225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851201"/>
            <a:ext cx="10972800" cy="1108471"/>
          </a:xfrm>
          <a:prstGeom prst="roundRect">
            <a:avLst>
              <a:gd name="adj" fmla="val 10311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65251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755576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755576"/>
            <a:ext cx="47625" cy="1219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72875" y="1755576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950148"/>
            <a:ext cx="10972800" cy="9525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851201"/>
            <a:ext cx="10972800" cy="9525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851201"/>
            <a:ext cx="47625" cy="1108471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2875" y="4851201"/>
            <a:ext cx="9525" cy="1108471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625" y="3727251"/>
            <a:ext cx="1809750" cy="695325"/>
          </a:xfrm>
          <a:prstGeom prst="roundRect">
            <a:avLst>
              <a:gd name="adj" fmla="val 1095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00375" y="3727251"/>
            <a:ext cx="1809750" cy="695325"/>
          </a:xfrm>
          <a:prstGeom prst="roundRect">
            <a:avLst>
              <a:gd name="adj" fmla="val 1095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91125" y="3727251"/>
            <a:ext cx="1809750" cy="695325"/>
          </a:xfrm>
          <a:prstGeom prst="roundRect">
            <a:avLst>
              <a:gd name="adj" fmla="val 1095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81875" y="3727251"/>
            <a:ext cx="1809750" cy="695325"/>
          </a:xfrm>
          <a:prstGeom prst="roundRect">
            <a:avLst>
              <a:gd name="adj" fmla="val 1095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72625" y="3727251"/>
            <a:ext cx="1809750" cy="695325"/>
          </a:xfrm>
          <a:prstGeom prst="roundRect">
            <a:avLst>
              <a:gd name="adj" fmla="val 1095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022276"/>
            <a:ext cx="13335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431976"/>
            <a:ext cx="1524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675" y="3989189"/>
            <a:ext cx="1524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25" y="3989189"/>
            <a:ext cx="1524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5" y="3989189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5925" y="3989189"/>
            <a:ext cx="1524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5079801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437" y="3851076"/>
            <a:ext cx="23812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4762" y="3851076"/>
            <a:ext cx="180975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2650" y="3851076"/>
            <a:ext cx="266700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6262" y="3851076"/>
            <a:ext cx="180975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2725" y="3851076"/>
            <a:ext cx="209550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BACKGROUND &amp; MOTIVATION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 Statement &amp; Objectives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1993701"/>
            <a:ext cx="11306175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PROBLEM 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" y="2222301"/>
            <a:ext cx="10553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Hospitals generate large amounts of patient data, but identifying readmission patterns, bottlenecks, and high-risk patients remains difficult without systematic analytical tools.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3403401"/>
            <a:ext cx="11382375" cy="17145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HOSPITAL PATIENT FLOW DYNAMICS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5051226"/>
            <a:ext cx="11344275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MAIN OBJECTIVE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5279826"/>
            <a:ext cx="10629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"To develop a simple Python-based healthcare analytics system that analyzes hospital readmission and patient-flow patterns and provides basic risk insights."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187" y="4117776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Admission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8937" y="4117776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Treatment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9687" y="4117776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Discharge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0437" y="4117776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1187" y="4117776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991B1B"/>
                </a:solidFill>
                <a:latin typeface="Plus Jakarta Sans"/>
              </a:rPr>
              <a:t>5. Readmission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5087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71850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3371850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371850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3281362"/>
            <a:ext cx="2600325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75" y="2776537"/>
            <a:ext cx="223837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614737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971925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1005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62915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550" y="3971925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550" y="4391025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550" y="4629150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3971925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4210050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4448175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0200" y="3881437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0200" y="4300537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0200" y="4538662"/>
            <a:ext cx="123825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FUNCTIONAL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Proposed System &amp; Key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266700" y="2738437"/>
            <a:ext cx="127254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Hospital Readmission &amp; Patient Flow Analytics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75" y="3609975"/>
            <a:ext cx="22627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Patient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943350"/>
            <a:ext cx="265509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Add, edit &amp; delete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181475"/>
            <a:ext cx="2219325" cy="3619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Patient demographic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600575"/>
            <a:ext cx="265509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Search and filter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3800" y="3609975"/>
            <a:ext cx="23502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Readmission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8550" y="3943350"/>
            <a:ext cx="2219325" cy="3619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Returned vs non-readmitted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8550" y="4362450"/>
            <a:ext cx="265509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Days-to-return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4600575"/>
            <a:ext cx="265509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Overall readmission 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1325" y="3609975"/>
            <a:ext cx="139017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Patient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3943350"/>
            <a:ext cx="265509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Monthly admission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4181475"/>
            <a:ext cx="265509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Average length of stay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9375" y="4419600"/>
            <a:ext cx="2219325" cy="3619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Department workload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5450" y="3519487"/>
            <a:ext cx="176272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ML Risk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0200" y="3852862"/>
            <a:ext cx="2219325" cy="3619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Low / Medium / High 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0200" y="4271962"/>
            <a:ext cx="2655093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Scikit-learn classification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0200" y="4510087"/>
            <a:ext cx="2219325" cy="3619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Automated risk factors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538537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795837"/>
            <a:ext cx="10972800" cy="66675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252662"/>
            <a:ext cx="1701849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3849" y="2252662"/>
            <a:ext cx="1701849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8099" y="2252662"/>
            <a:ext cx="1701849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348" y="2252662"/>
            <a:ext cx="1701849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598" y="2252662"/>
            <a:ext cx="1701849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80848" y="2252662"/>
            <a:ext cx="1701849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78206" y="4991100"/>
            <a:ext cx="1213693" cy="276225"/>
          </a:xfrm>
          <a:prstGeom prst="roundRect">
            <a:avLst>
              <a:gd name="adj" fmla="val 206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625" y="4043362"/>
            <a:ext cx="1563737" cy="361950"/>
          </a:xfrm>
          <a:prstGeom prst="roundRect">
            <a:avLst>
              <a:gd name="adj" fmla="val 1578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11487" y="4043362"/>
            <a:ext cx="1563737" cy="361950"/>
          </a:xfrm>
          <a:prstGeom prst="roundRect">
            <a:avLst>
              <a:gd name="adj" fmla="val 1578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3349" y="4043362"/>
            <a:ext cx="1563737" cy="361950"/>
          </a:xfrm>
          <a:prstGeom prst="roundRect">
            <a:avLst>
              <a:gd name="adj" fmla="val 1578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5211" y="4043362"/>
            <a:ext cx="1563737" cy="361950"/>
          </a:xfrm>
          <a:prstGeom prst="roundRect">
            <a:avLst>
              <a:gd name="adj" fmla="val 15789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7073" y="4043362"/>
            <a:ext cx="1563737" cy="361950"/>
          </a:xfrm>
          <a:prstGeom prst="roundRect">
            <a:avLst>
              <a:gd name="adj" fmla="val 15789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18935" y="4043362"/>
            <a:ext cx="1563737" cy="361950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25" y="2414587"/>
            <a:ext cx="1714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2414587"/>
            <a:ext cx="20002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49" y="2414587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324" y="2414587"/>
            <a:ext cx="2857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436" y="2414587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3110" y="2414587"/>
            <a:ext cx="257175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767137"/>
            <a:ext cx="1714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9562" y="4157662"/>
            <a:ext cx="85725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424" y="4157662"/>
            <a:ext cx="8572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286" y="4157662"/>
            <a:ext cx="8572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5148" y="4157662"/>
            <a:ext cx="8572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7010" y="4157662"/>
            <a:ext cx="85725" cy="1333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TECHNICAL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Technology Stack &amp; System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3738562"/>
            <a:ext cx="11382375" cy="17145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SYSTEM DATA FLOW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" y="4948237"/>
            <a:ext cx="866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Plus Jakarta Sans"/>
              </a:rPr>
              <a:t>"The application runs locally through Flask and stores fictional patient data in SQLite. Python handles database operations, analytics, and machine-learning-based risk estimation."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2506" y="5048250"/>
            <a:ext cx="1080343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monospace"/>
              </a:rPr>
              <a:t>python app.py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275" y="2700337"/>
            <a:ext cx="17224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275" y="2881312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HTML, CSS, JavaScript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3524" y="2700337"/>
            <a:ext cx="17224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Backend Web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3524" y="2881312"/>
            <a:ext cx="17224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Python 3 + Flask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7774" y="2700337"/>
            <a:ext cx="17224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Analytics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7774" y="2881312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Pandas &amp; NumPy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2023" y="2700337"/>
            <a:ext cx="17224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2023" y="2881312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Scikit-learn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6273" y="2700337"/>
            <a:ext cx="17224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6273" y="2881312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SQLite Local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0523" y="2700337"/>
            <a:ext cx="17224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Visualization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0523" y="2881312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Chart.js Charts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407" y="4138612"/>
            <a:ext cx="1764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Plus Jakarta Sans"/>
              </a:rPr>
              <a:t>User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1269" y="4138612"/>
            <a:ext cx="1764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Plus Jakarta Sans"/>
              </a:rPr>
              <a:t>Flask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3132" y="4138612"/>
            <a:ext cx="1764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Plus Jakarta Sans"/>
              </a:rPr>
              <a:t>SQLite 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14994" y="4138612"/>
            <a:ext cx="1764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766E"/>
                </a:solidFill>
                <a:latin typeface="Plus Jakarta Sans"/>
              </a:rPr>
              <a:t>Pandas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16856" y="4138612"/>
            <a:ext cx="1764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766E"/>
                </a:solidFill>
                <a:latin typeface="Plus Jakarta Sans"/>
              </a:rPr>
              <a:t>ML Risk Predictor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8718" y="4138612"/>
            <a:ext cx="1764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B45309"/>
                </a:solidFill>
                <a:latin typeface="Plus Jakarta Sans"/>
              </a:rPr>
              <a:t>Chart.js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8400" y="4572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24225"/>
            <a:ext cx="109728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276350"/>
            <a:ext cx="1701849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3849" y="1276350"/>
            <a:ext cx="1701849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8099" y="1276350"/>
            <a:ext cx="1701849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348" y="1276350"/>
            <a:ext cx="1701849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598" y="1276350"/>
            <a:ext cx="1701849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80848" y="1276350"/>
            <a:ext cx="1701849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190750"/>
            <a:ext cx="1701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276350"/>
            <a:ext cx="17018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01924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3849" y="2190750"/>
            <a:ext cx="1701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3849" y="1276350"/>
            <a:ext cx="17018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3849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56174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8099" y="2190750"/>
            <a:ext cx="1701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8099" y="1276350"/>
            <a:ext cx="1701849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8099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10423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348" y="2190750"/>
            <a:ext cx="1701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348" y="1276350"/>
            <a:ext cx="1701849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348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4673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6598" y="2190750"/>
            <a:ext cx="1701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6598" y="1276350"/>
            <a:ext cx="170184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6598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18923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80848" y="2190750"/>
            <a:ext cx="1701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80848" y="1276350"/>
            <a:ext cx="1701849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80848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73172" y="1276350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95525" y="3848100"/>
            <a:ext cx="8362950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95525" y="4114800"/>
            <a:ext cx="8362950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95525" y="4381500"/>
            <a:ext cx="8362950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95525" y="4648200"/>
            <a:ext cx="8362950" cy="1714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95525" y="3848100"/>
            <a:ext cx="6272212" cy="171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95525" y="4114800"/>
            <a:ext cx="7526535" cy="171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95525" y="4381500"/>
            <a:ext cx="4599533" cy="171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95525" y="4648200"/>
            <a:ext cx="3345060" cy="1714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552825"/>
            <a:ext cx="133350" cy="1333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172700" y="514350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Sample Demo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-381000" y="6219825"/>
            <a:ext cx="1295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"The dashboard provides a single view of hospital activity and helps identify patient-flow and readmission patterns."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457200"/>
            <a:ext cx="826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VISUAL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704850"/>
            <a:ext cx="867608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Hospital Dashboard &amp; Patient Flow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625" y="3524250"/>
            <a:ext cx="11382375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Patient Flow &amp; Department Volume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" y="1466850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Total Patients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525" y="1657350"/>
            <a:ext cx="172249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1,250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25774" y="1466850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Currently Admitted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25774" y="1657350"/>
            <a:ext cx="172249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D9488"/>
                </a:solidFill>
                <a:latin typeface="Plus Jakarta Sans"/>
              </a:rPr>
              <a:t>180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024" y="1466850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Discharged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024" y="1657350"/>
            <a:ext cx="172249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34155"/>
                </a:solidFill>
                <a:latin typeface="Plus Jakarta Sans"/>
              </a:rPr>
              <a:t>1,070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4273" y="1466850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Readmitted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4273" y="1657350"/>
            <a:ext cx="172249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EF4444"/>
                </a:solidFill>
                <a:latin typeface="Plus Jakarta Sans"/>
              </a:rPr>
              <a:t>142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8523" y="1466850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Readmission 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8523" y="1657350"/>
            <a:ext cx="172249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D97706"/>
                </a:solidFill>
                <a:latin typeface="Plus Jakarta Sans"/>
              </a:rPr>
              <a:t>11.4%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2773" y="1466850"/>
            <a:ext cx="17224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Avg Length of Stay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2773" y="1657350"/>
            <a:ext cx="172249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7C3AED"/>
                </a:solidFill>
                <a:latin typeface="Plus Jakarta Sans"/>
              </a:rPr>
              <a:t>4.8 Days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625" y="3848100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Cardiology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10875" y="3848100"/>
            <a:ext cx="857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320 pts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625" y="4114800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General Medicine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0875" y="4114800"/>
            <a:ext cx="857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410 pts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625" y="4381500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Orthopedics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10875" y="4381500"/>
            <a:ext cx="857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240 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625" y="4648200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Neurology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10875" y="4648200"/>
            <a:ext cx="857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180 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5450" y="1314450"/>
            <a:ext cx="6076950" cy="508635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14450"/>
            <a:ext cx="466725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67025"/>
            <a:ext cx="46672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00525"/>
            <a:ext cx="466725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200525"/>
            <a:ext cx="38100" cy="5715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1828800"/>
            <a:ext cx="9429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66900" y="1828800"/>
            <a:ext cx="15049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48050" y="1828800"/>
            <a:ext cx="11334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7725" y="2190750"/>
            <a:ext cx="134302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66950" y="2190750"/>
            <a:ext cx="12858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29025" y="2190750"/>
            <a:ext cx="100012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7725" y="3400425"/>
            <a:ext cx="1320849" cy="409575"/>
          </a:xfrm>
          <a:prstGeom prst="roundRect">
            <a:avLst>
              <a:gd name="adj" fmla="val 1860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2874" y="3400425"/>
            <a:ext cx="1320849" cy="409575"/>
          </a:xfrm>
          <a:prstGeom prst="roundRect">
            <a:avLst>
              <a:gd name="adj" fmla="val 18604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18024" y="3400425"/>
            <a:ext cx="1320849" cy="409575"/>
          </a:xfrm>
          <a:prstGeom prst="roundRect">
            <a:avLst>
              <a:gd name="adj" fmla="val 18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2312" y="3476625"/>
            <a:ext cx="771525" cy="266700"/>
          </a:xfrm>
          <a:prstGeom prst="roundRect">
            <a:avLst>
              <a:gd name="adj" fmla="val 2142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28875" y="3476625"/>
            <a:ext cx="1028700" cy="266700"/>
          </a:xfrm>
          <a:prstGeom prst="roundRect">
            <a:avLst>
              <a:gd name="adj" fmla="val 21428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83087" y="3476625"/>
            <a:ext cx="790575" cy="266700"/>
          </a:xfrm>
          <a:prstGeom prst="roundRect">
            <a:avLst>
              <a:gd name="adj" fmla="val 2142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72700" y="2333625"/>
            <a:ext cx="504825" cy="266700"/>
          </a:xfrm>
          <a:prstGeom prst="roundRect">
            <a:avLst>
              <a:gd name="adj" fmla="val 2142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72700" y="2743200"/>
            <a:ext cx="485775" cy="266700"/>
          </a:xfrm>
          <a:prstGeom prst="roundRect">
            <a:avLst>
              <a:gd name="adj" fmla="val 2142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72700" y="3152775"/>
            <a:ext cx="742950" cy="266700"/>
          </a:xfrm>
          <a:prstGeom prst="roundRect">
            <a:avLst>
              <a:gd name="adj" fmla="val 21428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81150"/>
            <a:ext cx="1428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133725"/>
            <a:ext cx="1619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352925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575" y="1581150"/>
            <a:ext cx="142875" cy="142875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743575" y="1885950"/>
          <a:ext cx="5600698" cy="1600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33214"/>
                <a:gridCol w="1765101"/>
                <a:gridCol w="1154608"/>
                <a:gridCol w="1247775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Patient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Department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Returned?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Risk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Rahul Sharma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Cardiology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Priya Nair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General Medicine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Arjun Kumar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Orthopedics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RISK CLASSIFICATION &amp;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Readmission Tracking &amp; Risk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3487" y="6010275"/>
            <a:ext cx="7000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lus Jakarta Sans"/>
              </a:rPr>
              <a:t>* Dataset utilizes fictional Indian patient records for local Python Flask execution.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1552575"/>
            <a:ext cx="5238750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ML Risk Model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3105150"/>
            <a:ext cx="5238750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Risk Classification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" y="4333875"/>
            <a:ext cx="4419600" cy="3048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0" sz="975" i="1" u="none">
                <a:solidFill>
                  <a:srgbClr val="475569"/>
                </a:solidFill>
                <a:latin typeface="Plus Jakarta Sans"/>
              </a:rPr>
              <a:t> Disclaimer: Risk estimation is for academic demonstration and is not a medical diagnosis.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025" y="1885950"/>
            <a:ext cx="809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Patient 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1200" y="1885950"/>
            <a:ext cx="1371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Previous Admissions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2350" y="1885950"/>
            <a:ext cx="1000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Length of Stay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025" y="2247900"/>
            <a:ext cx="120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Medication 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1250" y="2247900"/>
            <a:ext cx="1152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Follow-up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3325" y="2247900"/>
            <a:ext cx="866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Department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3575" y="1552575"/>
            <a:ext cx="3012281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Fictional Patient Analysis 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48925" y="1571625"/>
            <a:ext cx="11811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Sample Records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687" y="3514725"/>
            <a:ext cx="8667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A34A"/>
                </a:solidFill>
                <a:latin typeface="Plus Jakarta Sans"/>
              </a:rPr>
              <a:t>Low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81250" y="3514725"/>
            <a:ext cx="1123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D97706"/>
                </a:solidFill>
                <a:latin typeface="Plus Jakarta Sans"/>
              </a:rPr>
              <a:t>Medium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5462" y="3514725"/>
            <a:ext cx="885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High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7950" y="2371725"/>
            <a:ext cx="4095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67950" y="2781300"/>
            <a:ext cx="390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67950" y="3190875"/>
            <a:ext cx="64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Medium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724525"/>
            <a:ext cx="109728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7245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314450"/>
            <a:ext cx="3530649" cy="1895475"/>
          </a:xfrm>
          <a:prstGeom prst="roundRect">
            <a:avLst>
              <a:gd name="adj" fmla="val 60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1314450"/>
            <a:ext cx="3530649" cy="1895475"/>
          </a:xfrm>
          <a:prstGeom prst="roundRect">
            <a:avLst>
              <a:gd name="adj" fmla="val 60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1314450"/>
            <a:ext cx="3530649" cy="1895475"/>
          </a:xfrm>
          <a:prstGeom prst="roundRect">
            <a:avLst>
              <a:gd name="adj" fmla="val 60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14450"/>
            <a:ext cx="35306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30749" y="1314450"/>
            <a:ext cx="353064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51899" y="1314450"/>
            <a:ext cx="353064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571625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49" y="1571625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399" y="1571625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PROJECT 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FFFFFF"/>
                </a:solidFill>
                <a:latin typeface="Plus Jakarta Sans"/>
              </a:rPr>
              <a:t>Results, Limitations &amp;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24550"/>
            <a:ext cx="277534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29350"/>
            <a:ext cx="2643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Questions &amp; Evaluation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4837" y="6000750"/>
            <a:ext cx="3357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38BDF8"/>
                </a:solidFill>
                <a:latin typeface="Plus Jakarta Sans"/>
              </a:rPr>
              <a:t>Akash Gaonkar — MCA 3rd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4837" y="6172200"/>
            <a:ext cx="3357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Nitte Meenakshi Institute of Technology (NMIT)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1543050"/>
            <a:ext cx="393706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DD4BF"/>
                </a:solidFill>
                <a:latin typeface="Plus Jakarta Sans"/>
              </a:rPr>
              <a:t>Key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249" y="1543050"/>
            <a:ext cx="393706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BBF24"/>
                </a:solidFill>
                <a:latin typeface="Plus Jakarta Sans"/>
              </a:rPr>
              <a:t>System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399" y="1543050"/>
            <a:ext cx="3937062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Future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18573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Identifies returned patients post-discharge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210502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Calculates hospital readmission rates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23526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Visualizes department patient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260032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Flags high-risk patients via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28479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Evaluates follow-up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249" y="18573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Uses synthetic / fictional patient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249" y="210502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Designed for academic demonstration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249" y="23526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Basic ML classification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249" y="260032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Runs locally on localhost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1249" y="28479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Not for actual clinical decision-making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2399" y="18573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Integration with real anonymized datasets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2399" y="210502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Advanced deep learning predictive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2399" y="23526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Role-based login (Doctor / Nurse)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2399" y="260032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Cloud deployment &amp; hospital DB connection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2399" y="2847975"/>
            <a:ext cx="393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Real-time patient tracking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239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92536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362075"/>
            <a:ext cx="8679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https://multipurposethemes.com/wp-content/uploads/2025/03/Rhythm-and-medicaladmin-featured-image-7.jpg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562100"/>
            <a:ext cx="3119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multipurposethemes.com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